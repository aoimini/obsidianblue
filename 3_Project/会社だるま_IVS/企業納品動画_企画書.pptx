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371600"/>
            <a:ext cx="4023360" cy="4023360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2606040"/>
            <a:ext cx="548640" cy="548640"/>
          </a:xfrm>
          <a:prstGeom prst="ellipse">
            <a:avLst/>
          </a:prstGeom>
          <a:solidFill>
            <a:srgbClr val="2A1416"/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2606040"/>
            <a:ext cx="548640" cy="548640"/>
          </a:xfrm>
          <a:prstGeom prst="ellipse">
            <a:avLst/>
          </a:prstGeom>
          <a:solidFill>
            <a:srgbClr val="D89B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89B2B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SNS PLANNING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会社だるま × IVS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企業納品動画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841248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D9D0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企画書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4800600"/>
            <a:ext cx="2011680" cy="0"/>
          </a:xfrm>
          <a:prstGeom prst="line">
            <a:avLst/>
          </a:prstGeom>
          <a:noFill/>
          <a:ln w="25400">
            <a:solidFill>
              <a:srgbClr val="D89B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983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9A79E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目入れ＝決意表明の儀式を、IVSの熱量とともに記録する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E78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ステータス：代表確認待ち（v1.0）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" cy="237744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1122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VIDEO ①｜PURPOSE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41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企業納品動画｜目的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747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94560"/>
            <a:ext cx="914400" cy="914400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41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納品物としての価値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購入企業に「特別な体験の記録」を残し、サービス満足度を高める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51960" y="1828800"/>
            <a:ext cx="34747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194560"/>
            <a:ext cx="914400" cy="914400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572000" y="32918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41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企業による二次拡散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39776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企業自身がSNS投稿＝取引先・同業など“法人ネットワーク”へ届く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55280" y="1828800"/>
            <a:ext cx="34747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75320" y="2194560"/>
            <a:ext cx="914400" cy="914400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275320" y="32918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41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新規法人への訴求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75320" y="397764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「自社もやりたい」を生み、次の受注につなげる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E78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※ 本企画は IVSイベント会場での納品動画。デスク設置など“オフィス納品編”は第2弾で別途設計。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" cy="237744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1122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BASIC SETUP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41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基本設計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91440" cy="822960"/>
          </a:xfrm>
          <a:prstGeom prst="rect">
            <a:avLst/>
          </a:prstGeom>
          <a:solidFill>
            <a:srgbClr val="D89B2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1122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配信先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63240" y="15544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Instagram Reels / TikTok / YouTube Shorts｜縦型 9:16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505456"/>
            <a:ext cx="11064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505456"/>
            <a:ext cx="91440" cy="822960"/>
          </a:xfrm>
          <a:prstGeom prst="rect">
            <a:avLst/>
          </a:prstGeom>
          <a:solidFill>
            <a:srgbClr val="D89B2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505456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1122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想定尺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63240" y="2505456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30〜60秒（フックは冒頭3秒で完結させる）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456432"/>
            <a:ext cx="11064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456432"/>
            <a:ext cx="91440" cy="822960"/>
          </a:xfrm>
          <a:prstGeom prst="rect">
            <a:avLst/>
          </a:prstGeom>
          <a:solidFill>
            <a:srgbClr val="D89B2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45643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1122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機材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63240" y="345643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スマホ＋ジンバル／手元用サブ1台／ピンマイク推奨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407408"/>
            <a:ext cx="11064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407408"/>
            <a:ext cx="91440" cy="822960"/>
          </a:xfrm>
          <a:prstGeom prst="rect">
            <a:avLst/>
          </a:prstGeom>
          <a:solidFill>
            <a:srgbClr val="D89B2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40740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1122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演出の核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063240" y="4407408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目入れ＝願掛け・決意宣言。願いを描く瞬間をクライマックスに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5358384"/>
            <a:ext cx="110642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5358384"/>
            <a:ext cx="91440" cy="822960"/>
          </a:xfrm>
          <a:prstGeom prst="rect">
            <a:avLst/>
          </a:prstGeom>
          <a:solidFill>
            <a:srgbClr val="D89B2B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358384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1122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感情設計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063240" y="5358384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開封のワクワク → 目入れの集中 → 宣言の表情、で起伏をつくる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" cy="237744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1122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SHOOTING &amp; EDIT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41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撮影・編集の型｜+α 改善ポイント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短尺で「最後まで見られる・保存される」を底上げする共通ルール。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4747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468880"/>
            <a:ext cx="914400" cy="914400"/>
          </a:xfrm>
          <a:prstGeom prst="ellipse">
            <a:avLst/>
          </a:prstGeom>
          <a:solidFill>
            <a:srgbClr val="D89B2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音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68680" y="3566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41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音設計（ASMR）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411480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ペンの目入れ音などを意図的に録音。「音ON推奨」テロップで音声視聴を誘発し、満足度を上げる。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51960" y="2103120"/>
            <a:ext cx="34747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2468880"/>
            <a:ext cx="914400" cy="914400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画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0" y="3566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41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構図・ループ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411480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重要な文字／顔は画面中央60%（縦型セーフゾーン）に配置。ラスト→冒頭でシームレスループ＝再生回数UP。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55280" y="2103120"/>
            <a:ext cx="34747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75320" y="2468880"/>
            <a:ext cx="914400" cy="914400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字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275320" y="3566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41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テロップ2種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75320" y="411480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質問テロップ＋ネームスーパー（名前・肩書き）を常設。無音視聴でも文脈が伝わり完視聴率が上がる。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" cy="237744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1122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VIDEO ①｜STRUCTURE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41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構成カット表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468880"/>
                <a:gridCol w="1143000"/>
                <a:gridCol w="68122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#</a:t>
                      </a:r>
                      <a:endParaRPr lang="en-US" sz="14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4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カット</a:t>
                      </a:r>
                      <a:endParaRPr lang="en-US" sz="14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4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尺目安</a:t>
                      </a:r>
                      <a:endParaRPr lang="en-US" sz="14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4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内容・狙い</a:t>
                      </a:r>
                      <a:endParaRPr lang="en-US" sz="14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41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1</a:t>
                      </a:r>
                      <a:endParaRPr lang="en-US" sz="15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2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A1416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フック</a:t>
                      </a:r>
                      <a:endParaRPr lang="en-US" sz="13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0–3秒</a:t>
                      </a:r>
                      <a:endParaRPr lang="en-US" sz="13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「頑張りたいこと」＋会社名を本人が宣言（最初の一言で掴む）</a:t>
                      </a:r>
                      <a:endParaRPr lang="en-US" sz="12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2</a:t>
                      </a:r>
                      <a:endParaRPr lang="en-US" sz="15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2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A1416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開封</a:t>
                      </a:r>
                      <a:endParaRPr lang="en-US" sz="13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3–8秒</a:t>
                      </a:r>
                      <a:endParaRPr lang="en-US" sz="13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箱を開ける様子。手元アップ＋開封音をしっかり録る（音ON推奨）</a:t>
                      </a:r>
                      <a:endParaRPr lang="en-US" sz="12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3</a:t>
                      </a:r>
                      <a:endParaRPr lang="en-US" sz="15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2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A1416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取り出し（ヒキ）</a:t>
                      </a:r>
                      <a:endParaRPr lang="en-US" sz="13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8–13秒</a:t>
                      </a:r>
                      <a:endParaRPr lang="en-US" sz="13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箱から取り出して驚く様子。引きで全身＋表情、リアクション重視</a:t>
                      </a:r>
                      <a:endParaRPr lang="en-US" sz="12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4</a:t>
                      </a:r>
                      <a:endParaRPr lang="en-US" sz="15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2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A1416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目標を書く（クローズ）</a:t>
                      </a:r>
                      <a:endParaRPr lang="en-US" sz="13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13–19秒</a:t>
                      </a:r>
                      <a:endParaRPr lang="en-US" sz="13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だるまに願い・社名を書く手元アップ。会社だるま最大の差別化＝必ず魅せる</a:t>
                      </a:r>
                      <a:endParaRPr lang="en-US" sz="12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5</a:t>
                      </a:r>
                      <a:endParaRPr lang="en-US" sz="15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2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A1416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目入れPOV</a:t>
                      </a:r>
                      <a:endParaRPr lang="en-US" sz="13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19–26秒</a:t>
                      </a:r>
                      <a:endParaRPr lang="en-US" sz="13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ペンが目に迫る主観カット。ペンの音を録り緊張感を演出</a:t>
                      </a:r>
                      <a:endParaRPr lang="en-US" sz="12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6</a:t>
                      </a:r>
                      <a:endParaRPr lang="en-US" sz="15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2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A1416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目入れ（ヒキ）</a:t>
                      </a:r>
                      <a:endParaRPr lang="en-US" sz="13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26–32秒</a:t>
                      </a:r>
                      <a:endParaRPr lang="en-US" sz="13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目を入れる瞬間を引きで。表情と手元が両方入る画角</a:t>
                      </a:r>
                      <a:endParaRPr lang="en-US" sz="12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E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7</a:t>
                      </a:r>
                      <a:endParaRPr lang="en-US" sz="15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2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A1416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意気込み</a:t>
                      </a:r>
                      <a:endParaRPr lang="en-US" sz="13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32–45秒</a:t>
                      </a:r>
                      <a:endParaRPr lang="en-US" sz="13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Mintyo UI" pitchFamily="34" charset="0"/>
                          <a:ea typeface="Mintyo UI" pitchFamily="34" charset="-122"/>
                          <a:cs typeface="Mintyo UI" pitchFamily="34" charset="-120"/>
                        </a:rPr>
                        <a:t>決意表明で締め。カメラ目線、社名ロゴ／だるまで締める</a:t>
                      </a:r>
                      <a:endParaRPr lang="en-US" sz="1200" dirty="0">
                        <a:latin typeface="Mintyo UI" charset="0"/>
                        <a:ea typeface="Mintyo UI" charset="0"/>
                        <a:cs typeface="Mint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5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" cy="237744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1122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VIDEO ①｜REQUEST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41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撮影時のお願い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5440680" cy="548640"/>
          </a:xfrm>
          <a:prstGeom prst="rect">
            <a:avLst/>
          </a:prstGeom>
          <a:solidFill>
            <a:srgbClr val="B1122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002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事前のご準備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冒頭で言う「目標（頑張りたいこと）」＋「会社名」を1文でご準備ください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だるまに書く願い・社名の文言を事前に決めておいてください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撮影に出る方（顔出し）を1〜数名お決めください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4068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600200"/>
            <a:ext cx="5440680" cy="548640"/>
          </a:xfrm>
          <a:prstGeom prst="rect">
            <a:avLst/>
          </a:prstGeom>
          <a:solidFill>
            <a:srgbClr val="B11226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6002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当日のお願い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33172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開封〜目入れは“素のリアクション”が魅力。リハなし・一発本番でOK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撮影時間：1社あたり 約◯分（要確定）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顔出し・SNS掲載可否の同意をお願いします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" cy="237744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1122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ON-SITE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41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当日オペレーション &amp; 準備物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5440680" cy="548640"/>
          </a:xfrm>
          <a:prstGeom prst="rect">
            <a:avLst/>
          </a:prstGeom>
          <a:solidFill>
            <a:srgbClr val="B1122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00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オペレーション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役割分担：撮影／進行／同意・誘導 を分担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撮影ブース：ロゴが映える背景、開封スペース、目入れ用の机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だるまは事前に準備（社名・目標を「書く工程」の有無を確認）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40680" cy="4480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600200"/>
            <a:ext cx="5440680" cy="548640"/>
          </a:xfrm>
          <a:prstGeom prst="rect">
            <a:avLst/>
          </a:prstGeom>
          <a:solidFill>
            <a:srgbClr val="D89B2B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6002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準備物チェックリスト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3317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だるま（社名・目標 記入用）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目入れ用ペン・筆・墨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開封演出用の箱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ジンバル・スマホ（メイン／サブ）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ピンマイク・モバイルバッテリー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背景ボード／ロゴ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同意確認フォーム（掲載可否）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37744" cy="237744"/>
          </a:xfrm>
          <a:prstGeom prst="ellipse">
            <a:avLst/>
          </a:prstGeom>
          <a:solidFill>
            <a:srgbClr val="B11226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1122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EDIT &amp; DELIVERY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41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編集・納品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91440" cy="777240"/>
          </a:xfrm>
          <a:prstGeom prst="rect">
            <a:avLst/>
          </a:prstGeom>
          <a:solidFill>
            <a:srgbClr val="B1122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00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122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尺・縦横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63240" y="16002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30〜60秒／縦型 9:16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1064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514600"/>
            <a:ext cx="91440" cy="777240"/>
          </a:xfrm>
          <a:prstGeom prst="rect">
            <a:avLst/>
          </a:prstGeom>
          <a:solidFill>
            <a:srgbClr val="B1122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5146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122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テロップ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63240" y="25146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社名・目標・キーワードを最小限。だるま文化の一言を統一フォーマットで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1064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429000"/>
            <a:ext cx="91440" cy="777240"/>
          </a:xfrm>
          <a:prstGeom prst="rect">
            <a:avLst/>
          </a:prstGeom>
          <a:solidFill>
            <a:srgbClr val="B11226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429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122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BGM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63240" y="34290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高揚感のある共通BGMでシリーズ感（権利フリー音源）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11064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343400"/>
            <a:ext cx="91440" cy="777240"/>
          </a:xfrm>
          <a:prstGeom prst="rect">
            <a:avLst/>
          </a:prstGeom>
          <a:solidFill>
            <a:srgbClr val="B1122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3434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122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納品形式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063240" y="43434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各社へ個別データを納品（縦型／必要に応じ横型も）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257800"/>
            <a:ext cx="11064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5257800"/>
            <a:ext cx="91440" cy="777240"/>
          </a:xfrm>
          <a:prstGeom prst="rect">
            <a:avLst/>
          </a:prstGeom>
          <a:solidFill>
            <a:srgbClr val="B11226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2578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1226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資産化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063240" y="525780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OP/EDのロゴ演出を共通化し、ブランド資産として蓄積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A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237744" cy="237744"/>
          </a:xfrm>
          <a:prstGeom prst="ellipse">
            <a:avLst/>
          </a:prstGeom>
          <a:solidFill>
            <a:srgbClr val="D89B2B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89B2B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FOR APPROVAL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代表に確認したいこと（決め事）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234440"/>
          </a:xfrm>
          <a:prstGeom prst="rect">
            <a:avLst/>
          </a:prstGeom>
          <a:solidFill>
            <a:srgbClr val="3A2023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91440" cy="1234440"/>
          </a:xfrm>
          <a:prstGeom prst="rect">
            <a:avLst/>
          </a:prstGeom>
          <a:solidFill>
            <a:srgbClr val="D89B2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9B2B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1. 配信先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9D0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Reels／TikTok／Shorts の優先順位は？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394960" cy="1234440"/>
          </a:xfrm>
          <a:prstGeom prst="rect">
            <a:avLst/>
          </a:prstGeom>
          <a:solidFill>
            <a:srgbClr val="3A2023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1828800"/>
            <a:ext cx="91440" cy="1234440"/>
          </a:xfrm>
          <a:prstGeom prst="rect">
            <a:avLst/>
          </a:prstGeom>
          <a:solidFill>
            <a:srgbClr val="D89B2B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9B2B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2. 撮影社数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23774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9D0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企業納品は何社を目標にするか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5394960" cy="1234440"/>
          </a:xfrm>
          <a:prstGeom prst="rect">
            <a:avLst/>
          </a:prstGeom>
          <a:solidFill>
            <a:srgbClr val="3A2023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246120"/>
            <a:ext cx="91440" cy="1234440"/>
          </a:xfrm>
          <a:prstGeom prst="rect">
            <a:avLst/>
          </a:prstGeom>
          <a:solidFill>
            <a:srgbClr val="D89B2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383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9B2B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3. 撮影時間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7947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9D0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1社あたりの上限の目安（オペ設計に必要）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3246120"/>
            <a:ext cx="5394960" cy="1234440"/>
          </a:xfrm>
          <a:prstGeom prst="rect">
            <a:avLst/>
          </a:prstGeom>
          <a:solidFill>
            <a:srgbClr val="3A2023"/>
          </a:solidFill>
          <a:ln/>
        </p:spPr>
      </p:sp>
      <p:sp>
        <p:nvSpPr>
          <p:cNvPr id="18" name="Shape 16"/>
          <p:cNvSpPr/>
          <p:nvPr/>
        </p:nvSpPr>
        <p:spPr>
          <a:xfrm>
            <a:off x="6355080" y="3246120"/>
            <a:ext cx="91440" cy="1234440"/>
          </a:xfrm>
          <a:prstGeom prst="rect">
            <a:avLst/>
          </a:prstGeom>
          <a:solidFill>
            <a:srgbClr val="D89B2B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383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9B2B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4. 同意・二次利用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29400" y="37947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9D0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掲載可否の取り方と、納品データの二次利用ルール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5394960" cy="1234440"/>
          </a:xfrm>
          <a:prstGeom prst="rect">
            <a:avLst/>
          </a:prstGeom>
          <a:solidFill>
            <a:srgbClr val="3A2023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4663440"/>
            <a:ext cx="91440" cy="1234440"/>
          </a:xfrm>
          <a:prstGeom prst="rect">
            <a:avLst/>
          </a:prstGeom>
          <a:solidFill>
            <a:srgbClr val="D89B2B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800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9B2B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5. ブランド素材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52120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9D0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ロゴ・指定カラー・フォント・使用可能BGMの有無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55080" y="4663440"/>
            <a:ext cx="5394960" cy="1234440"/>
          </a:xfrm>
          <a:prstGeom prst="rect">
            <a:avLst/>
          </a:prstGeom>
          <a:solidFill>
            <a:srgbClr val="3A2023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5080" y="4663440"/>
            <a:ext cx="91440" cy="1234440"/>
          </a:xfrm>
          <a:prstGeom prst="rect">
            <a:avLst/>
          </a:prstGeom>
          <a:solidFill>
            <a:srgbClr val="D89B2B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4800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9B2B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6. トーン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29400" y="52120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D9D0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「かっこいい/エモい」寄りか「親しみ/応援」寄りか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E78"/>
                </a:solidFill>
                <a:latin typeface="Mintyo UI" pitchFamily="34" charset="0"/>
                <a:ea typeface="Mintyo UI" pitchFamily="34" charset="-122"/>
                <a:cs typeface="Mintyo UI" pitchFamily="34" charset="-120"/>
              </a:rPr>
              <a:t>確認後 → 確定版を協力企業へ共有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会社だるま × IVS 企業納品動画 企画書</dc:title>
  <dc:subject>PptxGenJS Presentation</dc:subject>
  <dc:creator>SNS Planner</dc:creator>
  <cp:lastModifiedBy>SNS Planner</cp:lastModifiedBy>
  <cp:revision>1</cp:revision>
  <dcterms:created xsi:type="dcterms:W3CDTF">2026-06-15T07:50:41Z</dcterms:created>
  <dcterms:modified xsi:type="dcterms:W3CDTF">2026-06-15T07:50:41Z</dcterms:modified>
</cp:coreProperties>
</file>